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軟正黑體"/>
                <a:ea typeface="微軟正黑體"/>
              </a:rPr>
              <a:t>伺服器事業部入口網站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CFE8F0"/>
                </a:solidFill>
                <a:latin typeface="微軟正黑體"/>
                <a:ea typeface="微軟正黑體"/>
              </a:rPr>
              <a:t>操作 SOP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8D4DC"/>
                </a:solidFill>
                <a:latin typeface="微軟正黑體"/>
                <a:ea typeface="微軟正黑體"/>
              </a:rPr>
              <a:t>私車公用報支　・　出差申報　・　管理員維護區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FB8C2"/>
                </a:solidFill>
                <a:latin typeface="微軟正黑體"/>
                <a:ea typeface="微軟正黑體"/>
              </a:rPr>
              <a:t>SOP 版本：v2.0　｜　建立日期：2026-08-29　｜　依 Repository Commit a6bd972 實際程式碼與 UI 整理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9FB8C2"/>
                </a:solidFill>
                <a:latin typeface="微軟正黑體"/>
                <a:ea typeface="微軟正黑體"/>
              </a:rPr>
              <a:t>本文件之操作畫面、按鈕名稱、欄位名稱均取自目前最新版程式，如與舊版 SOP 不同，一律以本文件為準。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系統登入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app.py — 登入表單</a:t>
            </a:r>
          </a:p>
        </p:txBody>
      </p:sp>
      <p:pic>
        <p:nvPicPr>
          <p:cNvPr id="3" name="Picture 2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255791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260363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0504" y="382283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14552" y="386855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帳號（員工編號）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密碼（統一登入密碼）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3. Log In 按鈕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於「帳號（員工編號）」欄位輸入自己的員工編號（大小寫皆可）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打完帳號後按 Tab 鍵切換到密碼欄位（Enter 鍵不會跳欄位）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輸入統一登入密碼後按 Log In 送出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帳號或密碼錯誤時，畫面顯示「帳號或密碼錯誤」，不會說明是哪一項錯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系統正式網址：待管理者確認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密碼由管理員在「管理員維護區」設定/更新，請勿在此文件外流傳實際密碼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登入後首頁／功能選擇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app.py — render_menu()</a:t>
            </a:r>
          </a:p>
        </p:txBody>
      </p:sp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255791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260363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0504" y="382283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14552" y="386855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姓名／單位・職務（自動帶入）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功能入口：私車公用報支／出差申報／管理員維護區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3. 登出按鈕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點選「🚗 私車公用報支」或「🧳 出差申報」進入對應子系統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「🛠️ 管理員維護區」僅系統內建管理員名單的帳號會看到此入口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點選「登出」清除登入身分並返回登入畫面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管理員維護區另有第二層獨立密碼驗證，不是只靠選單是否顯示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三個子頁面上方皆有「← 返回主頁／登出」導覽列，不需回首頁即可登出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3</a:t>
            </a:r>
          </a:p>
        </p:txBody>
      </p:sp>
      <p:pic>
        <p:nvPicPr>
          <p:cNvPr id="15" name="Picture 14" descr="02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私車公用－基本資料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pages/1_私車公用報支.py</a:t>
            </a:r>
          </a:p>
        </p:txBody>
      </p:sp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319037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323609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部門（鎖定）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姓名（鎖定）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部門／姓名由入口網站登入身分自動帶入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兩欄位皆反灰鎖定，無法手動修改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此頁沒有「職務」欄位（職務欄位僅出差申報頁面才有）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4</a:t>
            </a:r>
          </a:p>
        </p:txBody>
      </p:sp>
      <p:pic>
        <p:nvPicPr>
          <p:cNvPr id="13" name="Picture 12" descr="03-car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私車公用－單據上傳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pages/1_私車公用報支.py</a:t>
            </a:r>
          </a:p>
        </p:txBody>
      </p:sp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319037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323609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上傳停車發票/收據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上傳加油發票/收據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支援格式：JPG、JPEG、PNG、PDF，兩區皆可一次選取多個檔案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停車費與加油費務必分開上傳到對應的上傳區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混合上傳到錯的分類，會導致 AI 依錯誤類別辨識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5</a:t>
            </a:r>
          </a:p>
        </p:txBody>
      </p:sp>
      <p:pic>
        <p:nvPicPr>
          <p:cNvPr id="13" name="Picture 12" descr="05-car-files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私車公用－AI 辨識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pages/1_私車公用報支.py — process_single_file_with_gemini()</a:t>
            </a:r>
          </a:p>
        </p:txBody>
      </p:sp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319037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323609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🤖 AI 辨識單據內容 按鈕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Gemini 分析進度條與百分比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上傳至少一張單據、部門姓名皆有值後，按下「🤖 AI 辨識單據內容」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辨識期間顯示進度條，完成後顯示「成功辨識 N 筆單據資料」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單張辨識失敗會靜默略過，不會個別跳出錯誤，請核對成功筆數是否正確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6</a:t>
            </a:r>
          </a:p>
        </p:txBody>
      </p:sp>
      <p:pic>
        <p:nvPicPr>
          <p:cNvPr id="13" name="Picture 12" descr="06-car-ai-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私車公用－人工確認／補充資料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pages/1_私車公用報支.py</a:t>
            </a:r>
          </a:p>
        </p:txBody>
      </p:sp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319037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323609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地點／公里數／回數票／事由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「全部相同」勾選框（4 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僅「停車」單據會列在補充表單，需自行輸入地點/公里數/回數票/事由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多筆停車單據時，勾選「全部相同」可讓其餘筆數沿用第 1 筆的值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沒有上傳停車發票時，Excel 功能會跳過，但 Word 憑證仍可正常產出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AI 帶入的日期/金額為唯讀顯示，如有誤需另外聯絡管理者處理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7</a:t>
            </a:r>
          </a:p>
        </p:txBody>
      </p:sp>
      <p:pic>
        <p:nvPicPr>
          <p:cNvPr id="13" name="Picture 12" descr="06-car-ai-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私車公用－Excel／Word 產出與下載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pages/1_私車公用報支.py</a:t>
            </a:r>
          </a:p>
        </p:txBody>
      </p:sp>
      <p:pic>
        <p:nvPicPr>
          <p:cNvPr id="3" name="Picture 2" descr="10-car-word-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0504" y="3190379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14552" y="3236099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🚀 產出 Excel 報銷檔案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📄 產出 Word 報支單據檔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Excel 金額 ＝ 公里數合計 × 6 元 ＋ 停車費合計 ＋ 過路費合計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Word 檔即使沒有收據資料仍可產生（內容為「尚無收據資料」）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產出成功後，各自出現「下載報銷單 (Excel)」「下載報支單據 (Word)」按鈕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Excel 找不到內建範本檔案時會顯示錯誤，需聯絡管理者處理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系統不會自動加公司抬頭，下載後需自行於 Excel 補上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私車公用－輸出結果人工確認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下載後檢查清單</a:t>
            </a:r>
          </a:p>
        </p:txBody>
      </p:sp>
      <p:pic>
        <p:nvPicPr>
          <p:cNvPr id="3" name="Picture 2" descr="09-car-excel-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24" y="1143000"/>
            <a:ext cx="5396992" cy="379475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73050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1455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下載報銷單 (Excel)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Excel：檢查每筆日期/地點/公里數/過路費/事由與總金額是否正確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Excel：需自行於『私車公用補助單』與『支出憑單』頁面上方加上公司抬頭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Word：檢查單據圖片是否完整插入、排版是否正常、方向/比例是否正確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輸出異常時，請保留原始上傳的收據照片與這次輸出的檔案，供後續排查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出差報支－員工與出差資料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pages/2_出差申報.py — Step 1</a:t>
            </a:r>
          </a:p>
        </p:txBody>
      </p:sp>
      <p:sp>
        <p:nvSpPr>
          <p:cNvPr id="4" name="Oval 3"/>
          <p:cNvSpPr/>
          <p:nvPr/>
        </p:nvSpPr>
        <p:spPr>
          <a:xfrm>
            <a:off x="100035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8440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354" y="255792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84402" y="260364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0354" y="382284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84402" y="386856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員工編號／姓名／單位／職務（鎖定）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出差事由／申請日期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3. 出差起訖日期／出差地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身分四欄位由登入身分自動帶入並鎖定，無法修改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自行輸入「出差事由」；「申請日期」預設為今天，勾選「變更或調整申請日期」才能改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選取「出差起訖日期」與「出差地」（可選 Other 自訂地名＋地區）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出差起訖日期與出差地會直接影響雜費津貼／餐費的自動計算結果，請務必先確認正確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10</a:t>
            </a:r>
          </a:p>
        </p:txBody>
      </p:sp>
      <p:pic>
        <p:nvPicPr>
          <p:cNvPr id="15" name="Picture 14" descr="11-trip-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74" y="1143000"/>
            <a:ext cx="4857292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出差報支－範本上傳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pages/2_出差申報.py — Step 2</a:t>
            </a:r>
          </a:p>
        </p:txBody>
      </p:sp>
      <p:sp>
        <p:nvSpPr>
          <p:cNvPr id="4" name="Oval 3"/>
          <p:cNvSpPr/>
          <p:nvPr/>
        </p:nvSpPr>
        <p:spPr>
          <a:xfrm>
            <a:off x="100035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8440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上傳當月報支範本（.xls）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上傳會計提供的當月空白範本，僅支援 .xls 副檔名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上傳後系統自動偵測請款月份與欄位版面，並顯示偵測結果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範本實際取得方式（例如公告或信件）：待管理者確認，請勿沿用舊版 SOP 的網路芳鄰路徑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欄位標籤找不到時會顯示錯誤，代表範本版本可能不符，請確認後重新上傳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11</a:t>
            </a:r>
          </a:p>
        </p:txBody>
      </p:sp>
      <p:pic>
        <p:nvPicPr>
          <p:cNvPr id="11" name="Picture 10" descr="11-trip-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74" y="1143000"/>
            <a:ext cx="4857292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出差報支－單據分類上傳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pages/2_出差申報.py — Step 3</a:t>
            </a:r>
          </a:p>
        </p:txBody>
      </p:sp>
      <p:pic>
        <p:nvPicPr>
          <p:cNvPr id="3" name="Picture 2" descr="15b-trip-before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74" y="1143000"/>
            <a:ext cx="4857292" cy="3794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100035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8440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354" y="319038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84402" y="323610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依科目分類上傳收據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開始辨識（N 個檔案）按鈕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六大科目：交通費／住宿費／雜費津貼／餐費／交際費／其它，另有獨立的來回機票票根區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支援格式：JPG、JPEG、PNG、PDF、HEIC、HEIF、WEBP，皆可多選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所有科目檔案都選好後，只需按一次「開始辨識」即可批次處理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機票票根僅列入 Word 附件，不會寫入 Excel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額度用完時整批中止；伺服器暫時過載僅該張失敗，不影響其他張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出差報支－AI 辨識與人工複核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pages/2_出差申報.py — Step 4</a:t>
            </a:r>
          </a:p>
        </p:txBody>
      </p:sp>
      <p:pic>
        <p:nvPicPr>
          <p:cNvPr id="3" name="Picture 2" descr="18-trip-step4-review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74" y="1143000"/>
            <a:ext cx="4857292" cy="3794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100035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8440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354" y="255792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84402" y="260364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0354" y="382284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84402" y="386856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日期／幣別／金額／說明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交通費專屬：起點／訖點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3. 已確認此筆資料正確 勾選框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每筆收據皆可編輯日期/幣別/金額/說明；交通費另有起點/訖點欄位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每筆務必核對後勾選「已確認此筆資料正確」，才能於 Step 5 產生檔案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系統會依業務規則顯示提醒（例如非週日的餐費、多筆雜費津貼是否合併）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AI 辨識結果必須由使用者再次確認，不應視為百分之百正確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住宿費的地區/天數/人數目前無對應欄位可於此頁檢視或修改，請下載後於 Excel 核對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出差報支－系統自動計算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trip_calculations.py／config.py</a:t>
            </a:r>
          </a:p>
        </p:txBody>
      </p:sp>
      <p:pic>
        <p:nvPicPr>
          <p:cNvPr id="3" name="Picture 2" descr="17-trip-step4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74" y="1143000"/>
            <a:ext cx="4857292" cy="3794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100035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8440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354" y="319038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84402" y="323610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🧮 自動計算：雜費津貼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🧮 自動計算：餐費（星期日）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雜費津貼：整趟出差合計一筆 ＝ 出差天數 × 每日津貼（依出差地，見下表，寫在 config.py）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餐費：出差範圍內每個星期日各一筆，金額依 Step 2 範本「餐費核銷明細」分頁的地區費率動態計算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兩者皆在 Step 1（日期/出差地）與 Step 2（範本）都完成後才會自動產生，缺一不會計算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餐費金額不寫死在程式碼，依每次上傳範本內容為準，本 SOP 不列出固定金額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出差地代號固定日額：ESK/ESC 昆山煙台 RMB50；EMJ/ESV 馬來西亞越南 USD7；EST/ESM 美歐 USD30；ESH 新加坡 USD10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出差報支－Excel／Word 產生與下載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pages/2_出差申報.py — Step 5</a:t>
            </a:r>
          </a:p>
        </p:txBody>
      </p:sp>
      <p:pic>
        <p:nvPicPr>
          <p:cNvPr id="3" name="Picture 2" descr="19-trip-step5-gen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74" y="1143000"/>
            <a:ext cx="4857292" cy="3794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4" name="Oval 3"/>
          <p:cNvSpPr/>
          <p:nvPr/>
        </p:nvSpPr>
        <p:spPr>
          <a:xfrm>
            <a:off x="1000354" y="129300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84402" y="133872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354" y="3190380"/>
            <a:ext cx="384048" cy="384048"/>
          </a:xfrm>
          <a:prstGeom prst="ellipse">
            <a:avLst/>
          </a:prstGeom>
          <a:solidFill>
            <a:srgbClr val="228B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84402" y="3236100"/>
            <a:ext cx="457200" cy="292608"/>
          </a:xfrm>
          <a:prstGeom prst="rightArrow">
            <a:avLst/>
          </a:prstGeom>
          <a:solidFill>
            <a:srgbClr val="22A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43000"/>
            <a:ext cx="43735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1. 產生 Excel 按鈕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 2. 產生 Word 按鈕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B57"/>
                </a:solidFill>
                <a:latin typeface="微軟正黑體"/>
                <a:ea typeface="微軟正黑體"/>
              </a:rPr>
              <a:t>操作說明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Excel 需要：Step 1 五欄位填完 ＋ Step 2 範本已上傳 ＋ 所有收據已勾選確認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Word 只需要：Step 1 五欄位填完 ＋ 所有收據已勾選確認（不需要範本）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• 條件不足時，畫面會具體列出目前缺什麼項目，而非統一的固定提示句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74920"/>
            <a:ext cx="3962095" cy="160020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Excel 產生成功後會自動重新計算金額，開啟檔案不需要手動按任何按鍵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8A6D00"/>
                </a:solidFill>
                <a:latin typeface="微軟正黑體"/>
                <a:ea typeface="微軟正黑體"/>
              </a:rPr>
              <a:t>⚠ 伺服器端 LibreOffice 元件異常時的錯誤訊息屬部署問題，請直接聯絡管理者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輸出檔案人工確認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私車公用報支／出差報支 共通原則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B57"/>
                </a:solidFill>
                <a:latin typeface="微軟正黑體"/>
                <a:ea typeface="微軟正黑體"/>
              </a:rPr>
              <a:t>Excel 檢查重點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員工資料（編號/姓名/單位/職務/事由）是否正確帶入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每筆日期、費用分類、幣別、金額是否正確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合計/退（補）款金額是否已自動算出（需重新整理過公式）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合併雜費津貼後的日期區間、加總金額是否正確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私車公用：Excel 是否已補上公司抬頭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B57"/>
                </a:solidFill>
                <a:latin typeface="微軟正黑體"/>
                <a:ea typeface="微軟正黑體"/>
              </a:rPr>
              <a:t>Word 檢查重點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單據是否全部插入，數量與複核清單一致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圖片是否清楚、是否變形、方向是否正確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是否有漏頁、排版是否超出版面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檔案是否可以在 Word 正常開啟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微軟正黑體"/>
                <a:ea typeface="微軟正黑體"/>
              </a:rPr>
              <a:t>• 圖片無法嵌入時會顯示文字提示，需保留原始檔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11064240" cy="1554480"/>
          </a:xfrm>
          <a:prstGeom prst="roundRect">
            <a:avLst/>
          </a:prstGeom>
          <a:solidFill>
            <a:srgbClr val="FFF3CD"/>
          </a:solidFill>
          <a:ln>
            <a:solidFill>
              <a:srgbClr val="E0C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>
                <a:solidFill>
                  <a:srgbClr val="8A6D00"/>
                </a:solidFill>
                <a:latin typeface="微軟正黑體"/>
                <a:ea typeface="微軟正黑體"/>
              </a:rPr>
              <a:t>注意事項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6D00"/>
                </a:solidFill>
                <a:latin typeface="微軟正黑體"/>
                <a:ea typeface="微軟正黑體"/>
              </a:rPr>
              <a:t>⚠ 輸出後仍需人工確認，不可直接以 AI 辨識結果作為最終報支依據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6D00"/>
                </a:solidFill>
                <a:latin typeface="微軟正黑體"/>
                <a:ea typeface="微軟正黑體"/>
              </a:rPr>
              <a:t>⚠ 異常時應保留原始上傳的收據檔案，以及這次的輸出檔案，供後續排查問題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常見問題／異常處理</a:t>
            </a:r>
          </a:p>
          <a:p>
            <a:r>
              <a:rPr sz="1300" b="0">
                <a:solidFill>
                  <a:srgbClr val="CFE8F0"/>
                </a:solidFill>
                <a:latin typeface="微軟正黑體"/>
                <a:ea typeface="微軟正黑體"/>
              </a:rPr>
              <a:t>依程式碼實際錯誤訊息與例外處理邏輯整理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06240"/>
                <a:gridCol w="402336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問題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可能原因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處理方式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無法登入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帳號或密碼錯誤／員工編號不在名單或已停用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重新確認帳密；帳號問題請洽管理者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AI 辨識/開始辨識按鈕反灰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尚未上傳檔案，或（出差報支）伺服器未設定 API 金鑰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確認已上傳檔案；金鑰問題聯絡管理員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AI 無法辨識 / 額度用完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Gemini 免費額度當日/當分鐘上限已用完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依畫面提示稍後再試，或聯絡管理員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無法產生 Excel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必填欄位未完成／範本未上傳／收據未全部確認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依畫面列出的具體缺項逐一補齊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無法產生 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必填欄位未完成／收據未全部確認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依畫面列出的具體缺項逐一補齊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Excel 範本版本不符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上傳範本欄位標籤位置與系統預期不同或找不到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確認上傳的是會計最新發送的正確範本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圖片插入 Word 異常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原始圖片檔案損毀或格式無法解析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</a:rPr>
                        <a:t>保留原始檔與輸出 Word，提供管理者排查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注意事項與版本資訊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B57"/>
                </a:solidFill>
                <a:latin typeface="微軟正黑體"/>
                <a:ea typeface="微軟正黑體"/>
              </a:rPr>
              <a:t>使用注意事項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AI 辨識結果仍需人工確認，不可直接作為最終報支依據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不建議上傳含個人敏感個資（證件號碼、信用卡卡號）的單據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Gemini API 使用額度：依目前 API 方案及公司設定為準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檔案格式：私車公用支援 JPG/JPEG/PNG/PDF；出差申報另支援 HEIC/HEIF/WEBP；範本僅支援 .xls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檔案大小與網路需求：待確認（上傳元件顯示上限 200MB/檔）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私車公用 Excel 不含公司抬頭，需自行補上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微軟正黑體"/>
                <a:ea typeface="微軟正黑體"/>
              </a:rPr>
              <a:t>• 管理員維護區「上傳操作 SOP」會直接覆蓋舊版本，請自行留存備份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430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2A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1F3B57"/>
                </a:solidFill>
                <a:latin typeface="微軟正黑體"/>
                <a:ea typeface="微軟正黑體"/>
              </a:rPr>
              <a:t>版本資訊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系統名稱：伺服器事業部入口網站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程式版本：a6bd972（畫面左下角版本標籤，隨部署自動更新）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SOP 版本：v2.0（依現有程式碼重新整理版）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SOP 建立日期：2026-08-29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Repository Commit：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a6bd972a65e67f068d80062f353b606acb411e50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22222"/>
                </a:solidFill>
                <a:latin typeface="微軟正黑體"/>
                <a:ea typeface="微軟正黑體"/>
              </a:rPr>
              <a:t>適用環境：待確認（本機測試為 streamlit run app.py）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88"/>
                </a:solidFill>
                <a:latin typeface="微軟正黑體"/>
                <a:ea typeface="微軟正黑體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